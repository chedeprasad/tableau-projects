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Vehicles registered</c:v>
                </c:pt>
              </c:strCache>
            </c:strRef>
          </c:tx>
          <c:spPr>
            <a:solidFill>
              <a:srgbClr val="6FA8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2011</c:v>
                  </c:pt>
                  <c:pt idx="1">
                    <c:v>2012</c:v>
                  </c:pt>
                  <c:pt idx="2">
                    <c:v>2013</c:v>
                  </c:pt>
                  <c:pt idx="3">
                    <c:v>2014</c:v>
                  </c:pt>
                  <c:pt idx="4">
                    <c:v>2015</c:v>
                  </c:pt>
                  <c:pt idx="5">
                    <c:v>2016</c:v>
                  </c:pt>
                  <c:pt idx="6">
                    <c:v>2017</c:v>
                  </c:pt>
                  <c:pt idx="7">
                    <c:v>2018</c:v>
                  </c:pt>
                  <c:pt idx="8">
                    <c:v>2019</c:v>
                  </c:pt>
                  <c:pt idx="9">
                    <c:v>2020</c:v>
                  </c:pt>
                  <c:pt idx="10">
                    <c:v>2021*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200</c:v>
                </c:pt>
                <c:pt idx="1">
                  <c:v>1800</c:v>
                </c:pt>
                <c:pt idx="2">
                  <c:v>4600</c:v>
                </c:pt>
                <c:pt idx="3">
                  <c:v>3600</c:v>
                </c:pt>
                <c:pt idx="4">
                  <c:v>4900</c:v>
                </c:pt>
                <c:pt idx="5">
                  <c:v>5700</c:v>
                </c:pt>
                <c:pt idx="6">
                  <c:v>8600</c:v>
                </c:pt>
                <c:pt idx="7">
                  <c:v>14400</c:v>
                </c:pt>
                <c:pt idx="8">
                  <c:v>10700</c:v>
                </c:pt>
                <c:pt idx="9">
                  <c:v>11300</c:v>
                </c:pt>
                <c:pt idx="10">
                  <c:v>27100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CEF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Vehicles</c:v>
                </c:pt>
              </c:strCache>
            </c:strRef>
          </c:tx>
          <c:spPr>
            <a:solidFill>
              <a:srgbClr val="6FA8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Jeep</c:v>
                  </c:pt>
                  <c:pt idx="1">
                    <c:v>Volvo</c:v>
                  </c:pt>
                  <c:pt idx="2">
                    <c:v>Volkswagen</c:v>
                  </c:pt>
                  <c:pt idx="3">
                    <c:v>Toyota</c:v>
                  </c:pt>
                  <c:pt idx="4">
                    <c:v>Kia</c:v>
                  </c:pt>
                  <c:pt idx="5">
                    <c:v>BMW</c:v>
                  </c:pt>
                  <c:pt idx="6">
                    <c:v>Ford</c:v>
                  </c:pt>
                  <c:pt idx="7">
                    <c:v>Chevrolet</c:v>
                  </c:pt>
                  <c:pt idx="8">
                    <c:v>Nissan</c:v>
                  </c:pt>
                  <c:pt idx="9">
                    <c:v>Tesla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3209</c:v>
                </c:pt>
                <c:pt idx="1">
                  <c:v>3536</c:v>
                </c:pt>
                <c:pt idx="2">
                  <c:v>4074</c:v>
                </c:pt>
                <c:pt idx="3">
                  <c:v>5213</c:v>
                </c:pt>
                <c:pt idx="4">
                  <c:v>6190</c:v>
                </c:pt>
                <c:pt idx="5">
                  <c:v>6439</c:v>
                </c:pt>
                <c:pt idx="6">
                  <c:v>7606</c:v>
                </c:pt>
                <c:pt idx="7">
                  <c:v>12024</c:v>
                </c:pt>
                <c:pt idx="8">
                  <c:v>13497</c:v>
                </c:pt>
                <c:pt idx="9">
                  <c:v>60943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CAFV Eligibility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6FA85A"/>
              </a:solidFill>
              <a:effectLst/>
            </c:spPr>
          </c:dPt>
          <c:dPt>
            <c:idx val="2"/>
            <c:bubble3D val="0"/>
            <c:spPr>
              <a:solidFill>
                <a:srgbClr val="C9DC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CAFV Eligible</c:v>
                </c:pt>
                <c:pt idx="1">
                  <c:v>CAFV Unknown</c:v>
                </c:pt>
                <c:pt idx="2">
                  <c:v>Not Eligible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62891</c:v>
                </c:pt>
                <c:pt idx="1">
                  <c:v>69698</c:v>
                </c:pt>
                <c:pt idx="2">
                  <c:v>17833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A8D24C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D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PROJECT  ·  DATA ANALYTICS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224028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 Vehicle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adoption trends, market leaders, and CAFV eligibility across 150,000+ registered electric vehicles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1280160" cy="0"/>
          </a:xfrm>
          <a:prstGeom prst="line">
            <a:avLst/>
          </a:prstGeom>
          <a:noFill/>
          <a:ln w="31750">
            <a:solidFill>
              <a:srgbClr val="A8D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29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data: Washington State DOL — Electric Vehicle Population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in Tableau  |  Summary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DCEAD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electric vehicle adoption has grown over time, which makes and models lead the market, and where vehicles are registered.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28800"/>
            <a:ext cx="502920" cy="502920"/>
          </a:xfrm>
          <a:prstGeom prst="ellipse">
            <a:avLst/>
          </a:prstGeom>
          <a:solidFill>
            <a:srgbClr val="DCEAD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23760" y="181051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State Dept. of Licensing Electric Vehicle Population Data — one fact table of individually registered EVs, joined via a single federated data source.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DCEAD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05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6177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150,422 vehicle records spanning model years 2011–2021, covering Battery Electric (BEV) and Plug-in Hybrid (PHEV) vehicle types.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023360"/>
            <a:ext cx="502920" cy="502920"/>
          </a:xfrm>
          <a:prstGeom prst="ellipse">
            <a:avLst/>
          </a:prstGeom>
          <a:solidFill>
            <a:srgbClr val="DCEAD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23760" y="400507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177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interactive Tableau dashboard combining KPI summary cards, a trend chart, a leaderboard, a breakdown chart, and a geographic map.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key calculations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Type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CAFV Eligibility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County / City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Code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Range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fields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0299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Vehicles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22768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COUNTD([DOL Vehicle ID])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24871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Electric Range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27340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AVG([Electric Range])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0" y="29443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BEV Vehicles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1912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COUNTD(IF Type = "BEV" THEN ID END)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4015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PHEV Vehicles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36484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COUNTD(IF Type = "PHEV" THEN ID END)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385876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BEV / % PHEV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1056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[Type Count] / [Total Vehicles]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B2A2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D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filters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1663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CAFV Eligibility  ·  Electric Vehicle Type  ·  State  ·  Model — every worksheet responds to all four filters for guided, self-service exploration.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Methodology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population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150,422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Registered Vehicles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FE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DOL Vehicle IDs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002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67.83 mi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47872" y="2834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Electric Range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47872" y="3383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EV types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116.7K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9944" y="2834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Electric (BEV)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3383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77.6% of population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600200"/>
            <a:ext cx="260604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22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34856" y="1965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33.6K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72016" y="283464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Hybrid (PHEV)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72016" y="33832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22.4% of population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vehicles outnumber PHEV vehicles roughly 3.5 to 1 — battery-only vehicles are the dominant technology choice in this population.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737360" y="5257800"/>
            <a:ext cx="8686800" cy="502920"/>
          </a:xfrm>
          <a:prstGeom prst="roundRect">
            <a:avLst>
              <a:gd name="adj" fmla="val 10909"/>
            </a:avLst>
          </a:prstGeom>
          <a:solidFill>
            <a:srgbClr val="DCEAD3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5257800"/>
            <a:ext cx="6740957" cy="502920"/>
          </a:xfrm>
          <a:prstGeom prst="roundRect">
            <a:avLst>
              <a:gd name="adj" fmla="val 10909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1901952" y="5257800"/>
            <a:ext cx="64666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 77.6%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15477" y="5257800"/>
            <a:ext cx="176296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PHEV  22.4%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737360" y="589788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vs. PHEV share of total population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Headline Metrics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has accelerated sharply since 2017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*2021 is a partial year in the source extract, which explains the steep final uptick.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Adoption Trend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 dominates the top 10 makes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31520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417320"/>
            <a:ext cx="3566160" cy="4892040"/>
          </a:xfrm>
          <a:prstGeom prst="roundRect">
            <a:avLst>
              <a:gd name="adj" fmla="val 2308"/>
            </a:avLst>
          </a:prstGeom>
          <a:solidFill>
            <a:srgbClr val="1B2A22"/>
          </a:solidFill>
          <a:ln/>
        </p:spPr>
      </p:sp>
      <p:sp>
        <p:nvSpPr>
          <p:cNvPr id="6" name="Text 3"/>
          <p:cNvSpPr/>
          <p:nvPr/>
        </p:nvSpPr>
        <p:spPr>
          <a:xfrm>
            <a:off x="836676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D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66760" y="2057400"/>
            <a:ext cx="30632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4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alone accounts for roughly 51% of all registered EVs — more than the next nine makes combined.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4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and Chevrolet round out a distant second and third, reflecting early Leaf and Bolt adoption.</a:t>
            </a:r>
            <a:endParaRPr lang="en-US" sz="12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4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tail (Toyota, VW, Volvo, Jeep) signals PHEV models entering the mix alongside legacy BEVs.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 Leaders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ELIGIBILITY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half of vehicles have confirmed CAFV status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82880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2"/>
          </a:solidFill>
          <a:ln/>
        </p:spPr>
      </p:sp>
      <p:sp>
        <p:nvSpPr>
          <p:cNvPr id="6" name="Shape 3"/>
          <p:cNvSpPr/>
          <p:nvPr/>
        </p:nvSpPr>
        <p:spPr>
          <a:xfrm>
            <a:off x="6720840" y="2103120"/>
            <a:ext cx="128016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6995160" y="19385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CAFV Eligible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9516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62,891 vehicles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0" y="182880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41.8%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92240" y="301752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2"/>
          </a:solidFill>
          <a:ln/>
        </p:spPr>
      </p:sp>
      <p:sp>
        <p:nvSpPr>
          <p:cNvPr id="11" name="Shape 8"/>
          <p:cNvSpPr/>
          <p:nvPr/>
        </p:nvSpPr>
        <p:spPr>
          <a:xfrm>
            <a:off x="6720840" y="3291840"/>
            <a:ext cx="128016" cy="411480"/>
          </a:xfrm>
          <a:prstGeom prst="rect">
            <a:avLst/>
          </a:prstGeom>
          <a:solidFill>
            <a:srgbClr val="6FA85A"/>
          </a:solidFill>
          <a:ln/>
        </p:spPr>
      </p:sp>
      <p:sp>
        <p:nvSpPr>
          <p:cNvPr id="12" name="Text 9"/>
          <p:cNvSpPr/>
          <p:nvPr/>
        </p:nvSpPr>
        <p:spPr>
          <a:xfrm>
            <a:off x="6995160" y="31272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CAFV Unknown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95160" y="3474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69,698 vehicles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058400" y="301752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46.3%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6492240" y="42062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F4F6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720840" y="4480560"/>
            <a:ext cx="128016" cy="411480"/>
          </a:xfrm>
          <a:prstGeom prst="rect">
            <a:avLst/>
          </a:prstGeom>
          <a:solidFill>
            <a:srgbClr val="C9DCC0"/>
          </a:solidFill>
          <a:ln/>
        </p:spPr>
      </p:sp>
      <p:sp>
        <p:nvSpPr>
          <p:cNvPr id="17" name="Text 14"/>
          <p:cNvSpPr/>
          <p:nvPr/>
        </p:nvSpPr>
        <p:spPr>
          <a:xfrm>
            <a:off x="6995160" y="43159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Eligible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99516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17,833 vehicles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0" y="42062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492240" y="5486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Alternative Fuel Vehicle (CAFV) status determines HOV-lane and incentive eligibility in Washington State.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CAFV Eligibility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Concentrated in Washington, built for exploration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</p:spPr>
      </p:sp>
      <p:pic>
        <p:nvPicPr>
          <p:cNvPr id="5" name="Image 0" descr="Total_Vehicles_By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2918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166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Registrations by state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5486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registrations sit in Washington State, with a small footprint of out-of-state owners (e.g. California, Oregon, Hawaii) who registered vehicles while living in WA.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E3E9DF"/>
            </a:solidFill>
            <a:prstDash val="solid"/>
          </a:ln>
        </p:spPr>
      </p:sp>
      <p:pic>
        <p:nvPicPr>
          <p:cNvPr id="9" name="Image 1" descr="Electric_Vehicle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3246120" cy="3246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51663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dashboard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37960" y="5486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on this deck are drawn from the single interactive “Electric Vehicle Dashboard”, which lets viewers filter by state, make, model, and eligibility in real time.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Geography &amp; Dashboard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120640" cy="5120640"/>
          </a:xfrm>
          <a:prstGeom prst="ellipse">
            <a:avLst/>
          </a:prstGeom>
          <a:solidFill>
            <a:srgbClr val="2C5F2D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8D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960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84248"/>
            <a:ext cx="365760" cy="365760"/>
          </a:xfrm>
          <a:prstGeom prst="ellipse">
            <a:avLst/>
          </a:prstGeom>
          <a:solidFill>
            <a:srgbClr val="A8D2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202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accelerating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258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roughly doubled between 2017 and 2021, with no sign of slowing.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44368"/>
            <a:ext cx="365760" cy="365760"/>
          </a:xfrm>
          <a:prstGeom prst="ellipse">
            <a:avLst/>
          </a:prstGeom>
          <a:solidFill>
            <a:srgbClr val="A8D2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8803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BEVs lead the shift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2186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Battery-electric vehicles outnumber plug-in hybrids by more than 3-to-1.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04488"/>
            <a:ext cx="365760" cy="365760"/>
          </a:xfrm>
          <a:prstGeom prst="ellipse">
            <a:avLst/>
          </a:prstGeom>
          <a:solidFill>
            <a:srgbClr val="A8D24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8404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brand, outsized share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1788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represents about half of all registered EVs — a market worth watching for concentration risk.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64608"/>
            <a:ext cx="365760" cy="365760"/>
          </a:xfrm>
          <a:prstGeom prst="ellipse">
            <a:avLst/>
          </a:prstGeom>
          <a:solidFill>
            <a:srgbClr val="A8D24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8006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data has gaps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51389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records show “CAFV Unknown”, a clear opportunity to improve data completeness.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Key Takeaways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48095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Population Data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2026-08-13T18:46:53Z</dcterms:created>
  <dcterms:modified xsi:type="dcterms:W3CDTF">2026-08-13T18:46:53Z</dcterms:modified>
</cp:coreProperties>
</file>